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75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</a:defRPr>
            </a:pPr>
            <a:r>
              <a:t>Методика оценки эффективности</a:t>
            </a:r>
          </a:p>
          <a:p>
            <a:pPr algn="ctr">
              <a:defRPr sz="3600" b="1">
                <a:solidFill>
                  <a:srgbClr val="1A1A1A"/>
                </a:solidFill>
              </a:defRPr>
            </a:pPr>
            <a:r>
              <a:t>спонсорских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Управление по работе с бизнес-мероприятиями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Холдинг Т1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От проблемы к решению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Зачем нужна методика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368000"/>
            <a:ext cx="3960000" cy="360000"/>
          </a:xfrm>
          <a:prstGeom prst="round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872000"/>
            <a:ext cx="39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Нет единой метрики для сравнения мероприятий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Субъективность оценки спонсорских пакетов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Сложно обосновать ROI перед руководством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Нет системы для решений «участвовать / нет»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0000" y="1368000"/>
            <a:ext cx="3960000" cy="360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872000"/>
            <a:ext cx="39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Комплексная матрица: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Количественные метрики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(охват, лиды, конверсия, ROI)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Качественная оценка опций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(k-коэффициенты)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Единый индекс для сравнения (КБМ)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Архитектура матрицы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5 блоков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440000"/>
            <a:ext cx="1584000" cy="720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БЛОК 1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Общая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информация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999" y="1440000"/>
            <a:ext cx="1584000" cy="720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БЛОК 2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Исходные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данные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9998" y="1440000"/>
            <a:ext cx="1584000" cy="720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БЛОК 3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Метрики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(авто)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997" y="1440000"/>
            <a:ext cx="1584000" cy="720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БЛОК 4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Индекс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опций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9996" y="1440000"/>
            <a:ext cx="1584000" cy="720000"/>
          </a:xfrm>
          <a:prstGeom prst="round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БЛОК 5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КБМ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448000"/>
            <a:ext cx="270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КЛЮЧЕВЫЕ МЕТРИКИ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OTS — охват аудитории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GRP — доля контактов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CPL — стоимость лида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CR — конверсия в сделку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ROI — возврат инвестиций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NPS — индекс лояльности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000" y="2448000"/>
            <a:ext cx="252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СПОНСОРСКИЕ ОПЦИИ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p1: Выставочный стенд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p2: Сессия в программе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p3: Размещение на сайте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p4: Логотип на баннерах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p5: Сувениры / мерч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p6: Активации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p7: Нетворкинг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p8: Прочее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6000" y="2448000"/>
            <a:ext cx="270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ШКАЛА ОЦЕНКИ (k)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k=5 — максимум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k=4 — хорошо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k=3 — средне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k=2 — слабо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k=1 — минимум</a:t>
            </a:r>
          </a:p>
          <a:p>
            <a:pPr algn="ctr">
              <a:defRPr sz="1000" b="0">
                <a:solidFill>
                  <a:srgbClr val="1A1A1A"/>
                </a:solidFill>
              </a:defRPr>
            </a:pPr>
          </a:p>
          <a:p>
            <a:pPr algn="ctr">
              <a:defRPr sz="1000" b="0">
                <a:solidFill>
                  <a:srgbClr val="1A1A1A"/>
                </a:solidFill>
              </a:defRPr>
            </a:pPr>
            <a:r>
              <a:t>Idx = Σ(k) /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248000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КБМ = w₁×GRP + w₂×Idx + w₃×(1/CPL) + w₄×CR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Комплексный балл и пример расчёта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Формула КБМ и сравнение мероприятий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368000"/>
            <a:ext cx="3960000" cy="360000"/>
          </a:xfrm>
          <a:prstGeom prst="round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ФОРМУЛА КБМ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872000"/>
            <a:ext cx="39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КБМ = w₁×GRP + w₂×Idx + w₃×(1/CPL) + w₄×CR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Рекомендуемые веса: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w₁ (GRP) = 25%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w₂ (Idx) = 20%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w₃ (1/CPL) = 30%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w₄ (CR) = 25%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Веса настраиваются под стратегию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0000" y="1368000"/>
            <a:ext cx="3960000" cy="360000"/>
          </a:xfrm>
          <a:prstGeom prst="round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СРАВНЕНИЕ 2024-25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872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760000" y="1872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ПМГФ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0" y="1872000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Smart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7999" y="1872000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</a:defRPr>
            </a:pPr>
            <a:r>
              <a:t>Белые ночи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2123999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Участник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2123999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Т1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0" y="2123999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НОТА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7999" y="2123999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DION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2375998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Охват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2375998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34 400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0" y="2375998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554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999" y="2375998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375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2627997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Встречи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627997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2627997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7999" y="2627997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0" y="2879996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GRP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0" y="2879996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0,54%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0000" y="2879996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15,16%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7999" y="2879996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20,27%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0000" y="3131995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Idx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0" y="3131995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2,75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0000" y="3131995"/>
            <a:ext cx="1007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7999" y="3131995"/>
            <a:ext cx="11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</a:defRPr>
            </a:pPr>
            <a:r>
              <a:t>3,33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0000" y="3600000"/>
            <a:ext cx="39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1A1A"/>
                </a:solidFill>
              </a:defRPr>
            </a:pPr>
            <a:r>
              <a:t>→ Белые ночи: лучший GRP и Idx при меньшем охвате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Выводы и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Внедрение методики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Что даёт методика: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✓ Объективное сравнение мероприятий разных форматов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✓ Обоснование бюджетов на спонсорство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✓ Данные для решений «участвовать / отказаться»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✓ Единый язык для маркетинга и бизнеса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Процесс: матрицу заполняет ивент-менеджер на основе данных от организаторов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Следующие шаги: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1. Утвердить веса КБМ под стратегию компании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2. Пилот на 3-5 мероприятиях Q2 2025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3. Интеграция в процесс планирования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5144400"/>
          </a:xfrm>
          <a:prstGeom prst="rect">
            <a:avLst/>
          </a:prstGeom>
          <a:solidFill>
            <a:srgbClr val="E3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75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4000" y="4784400"/>
            <a:ext cx="5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