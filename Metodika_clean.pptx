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Методика оценки эффективности</a:t>
            </a:r>
            <a:br/>
            <a:r>
              <a:t>спонсорских мероприятий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Управление по работе с бизнес-мероприятиями | Холдинг Т1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ПРОБЛЕМА: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Нет единой метрики для сравнения мероприятий разных форматов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Субъективность оценки спонсорских пакетов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Сложно обосновать ROI спонсорства перед руководством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Нет системы для решений «участвовать / не участвовать»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РЕШЕНИЕ — Матрица оценки эффективности: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Количественные метрики (охват, лиды, конверсия, ROI)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Качественная оценка спонсорских опций (коэффициенты k от 1 до 5)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Комплексный балл мероприятия (КБМ) для сравнения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→ Объективное сравнение любых мероприятий по единой шкале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Как устроена матрица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ВВОД ДАННЫХ (ивент-менеджер по данным от организаторов):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Общая информация: название, дата, город, участник, приоритет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Исходные данные: участники, встречи, контакты, бюджет, доход, NPS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Оценка 8 спонсорских опций (k от 1 до 5)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                                              ↓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АВТОМАТИЧЕСКИЙ РАСЧЁТ: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Метрики: OTS, GRP, CPL, CPA, ROI, ROMI, NPS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Индекс спонсорских опций (Idx) = среднее k по всем опциям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Комплексный балл мероприятия (КБМ)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                                              ↓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→ РЕЗУЛЬТАТ: рейтинг мероприятий для сравнения и планирования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Комплексный балл и пример расчёта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ФОРМУЛА КБМ: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КБМ = w₁×GRP + w₂×Idx + w₃×(1/CPL) + w₄×CR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Веса: GRP 25% | Idx 20% | 1/CPL 30% | CR 25% (настраиваются под цели)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ПРИМЕР — мероприятия 2024-2025: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Мероприятие          OTS         GRP         Idx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ПМГФ 2024            34 400      0,54%       2,75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Smart Mining         554         15,16%      3,33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Белые ночи           375         20,27%      2,75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→ Smart Mining и Белые ночи: выше вовлечённость при меньшем охвате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   — эффективнее для B2B-лидогенерации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t>Выводы и следующие шаги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ЧТО ДАЁТ МЕТОДИКА: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Объективное сравнение любых мероприятий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Обоснование бюджетов на спонсорство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База для решений «участвовать / не участвовать»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ПРОЦЕСС ИСПОЛЬЗОВАНИЯ: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Ивент-менеджер заполняет матрицу по данным от организаторов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Метрики и КБМ рассчитываются автоматически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Формируется рейтинг для планирования на следующий год</a:t>
            </a:r>
          </a:p>
          <a:p>
            <a:pPr>
              <a:defRPr sz="1000">
                <a:solidFill>
                  <a:srgbClr val="1E1E1E"/>
                </a:solidFill>
              </a:defRPr>
            </a:pPr>
          </a:p>
          <a:p>
            <a:pPr>
              <a:defRPr sz="1700" b="1">
                <a:solidFill>
                  <a:srgbClr val="1E1E1E"/>
                </a:solidFill>
              </a:defRPr>
            </a:pPr>
            <a:r>
              <a:t>СЛЕДУЮЩИЕ ШАГИ: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Утвердить веса KPI под приоритеты Т1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Пилот на мероприятиях Q2 2025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Сформировать рейтинг по итогам года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8D7"/>
                </a:solidFill>
              </a:defRPr>
            </a:pPr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