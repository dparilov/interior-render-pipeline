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19"/>
  </p:notesMasterIdLst>
  <p:handoutMasterIdLst>
    <p:handoutMasterId r:id="rId20"/>
  </p:handout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616E7E"/>
          </p15:clr>
        </p15:guide>
        <p15:guide id="3" orient="horz" pos="2160" userDrawn="1">
          <p15:clr>
            <a:srgbClr val="616E7E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A9089-F431-1A69-0BEC-E95E01D45C80}" name="Данила Городилов" initials="ДГ" userId="S::DGorodilov@TSinnotech.onmicrosoft.com::a5050e9e-d375-4ec8-96c8-9b75cf96217f" providerId="AD"/>
  <p188:author id="{9F466DFE-070C-16DA-5148-76F86F636D85}" name="Александрова Вероника Андреевна" initials="АВА" userId="S-1-5-21-4282006300-870218872-2599774980-3292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анила Городилов" initials="ДГ" lastIdx="1" clrIdx="0">
    <p:extLst>
      <p:ext uri="{19B8F6BF-5375-455C-9EA6-DF929625EA0E}">
        <p15:presenceInfo xmlns:p15="http://schemas.microsoft.com/office/powerpoint/2012/main" userId="Данила Городил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FCC66"/>
    <a:srgbClr val="D8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 autoAdjust="0"/>
    <p:restoredTop sz="96327"/>
  </p:normalViewPr>
  <p:slideViewPr>
    <p:cSldViewPr snapToGrid="0" showGuides="1">
      <p:cViewPr varScale="1">
        <p:scale>
          <a:sx n="124" d="100"/>
          <a:sy n="124" d="100"/>
        </p:scale>
        <p:origin x="632" y="168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766" y="90"/>
      </p:cViewPr>
      <p:guideLst>
        <p:guide orient="horz" pos="2880"/>
        <p:guide pos="2160"/>
      </p:guideLst>
    </p:cSldViewPr>
  </p:notesViewPr>
  <p:gridSpacing cx="216001" cy="216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66C1D9F-0F11-4B3B-9B8E-19DE193E3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0D4612-C293-469C-9062-F9E143A4D0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833A1-8848-418E-8EE5-D60F2903A1A3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DF2127-2071-407D-A542-022C9AFCB9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D139D1-580D-48DA-BB5C-30AAF27AF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3D81C-561C-441F-8A63-AEC77DFD77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025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590AE-419C-7848-9550-F62033609B25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69232-B7F1-2A44-AAD4-5E776A4A1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44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 1">
    <p:bg>
      <p:bgPr>
        <a:solidFill>
          <a:srgbClr val="F1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E3EFAC4C-DE97-0AE5-3B7E-3316114BC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44" y="482012"/>
            <a:ext cx="1282402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dirty="0"/>
              <a:t>00.00.202</a:t>
            </a:r>
            <a:r>
              <a:rPr lang="ru-RU" dirty="0"/>
              <a:t>4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C0FEBC-A04D-9F6C-8EE4-E236E6B5EF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B5E7F5-2BFE-61DF-AF61-1AFD2C368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lang="en-US" sz="6600" b="1" kern="1200" spc="-7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Длинный заголовок </a:t>
            </a:r>
            <a:br>
              <a:rPr lang="ru-RU" dirty="0"/>
            </a:br>
            <a:r>
              <a:rPr lang="ru-RU" dirty="0"/>
              <a:t>в две строки</a:t>
            </a:r>
            <a:endParaRPr lang="en-US" dirty="0"/>
          </a:p>
        </p:txBody>
      </p:sp>
      <p:pic>
        <p:nvPicPr>
          <p:cNvPr id="7" name="Т1">
            <a:extLst>
              <a:ext uri="{FF2B5EF4-FFF2-40B4-BE49-F238E27FC236}">
                <a16:creationId xmlns:a16="http://schemas.microsoft.com/office/drawing/2014/main" id="{B5CB91FE-1E63-5C2C-FF35-11896AB215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94884B-C50A-2676-5C60-0D699A56C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078480" y="1183376"/>
            <a:ext cx="9113520" cy="56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0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E6FEA-55A1-FDCA-E85E-196DB5BBCF3F}"/>
              </a:ext>
            </a:extLst>
          </p:cNvPr>
          <p:cNvSpPr txBox="1"/>
          <p:nvPr/>
        </p:nvSpPr>
        <p:spPr>
          <a:xfrm>
            <a:off x="431800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4800" b="1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rPr>
              <a:t>Содержание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1C9C9AA4-C952-6470-6C12-FE661562D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384989"/>
            <a:ext cx="56530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Пункты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46CC8F2-D1FD-4E46-89DB-F1E7BC315A98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36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голубо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3E473A9-D8F3-4E0E-B91B-3B189D614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B627B76B-CFDE-4272-9216-C0FEB42DC94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24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темный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F5BE6CC-BCDA-4FE1-9262-912C1FA52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A453005-4FFF-4984-9FFE-45F3B3BF050D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6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Номер слайда 5">
            <a:extLst>
              <a:ext uri="{FF2B5EF4-FFF2-40B4-BE49-F238E27FC236}">
                <a16:creationId xmlns:a16="http://schemas.microsoft.com/office/drawing/2014/main" id="{C47D41CB-F2FD-4C2D-A122-236C5D1E919B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3292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249BE65-95EF-4D4A-95B8-C97ADF9A75B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E00EF4DE-B783-4553-8F88-845E34CF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DBB2A0-4480-4CD6-824E-3049E690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161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3217395-CFFD-FFC3-F070-667995056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3429ED5-9321-9147-DCBD-662C8710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39AD4A87-5407-5B8A-5DAB-18C0E7B25BA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D0A0AF4F-0257-17E1-C895-2D270D2646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BD3D4697-DE1F-7889-138A-31FC78D9CE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5953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2" name="Заголовок 5">
            <a:extLst>
              <a:ext uri="{FF2B5EF4-FFF2-40B4-BE49-F238E27FC236}">
                <a16:creationId xmlns:a16="http://schemas.microsoft.com/office/drawing/2014/main" id="{D2B9477C-4BCB-41A1-A836-16598DC8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7BE31FF3-F825-4791-89D7-2F470D156E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2454FFBC-4BAB-4655-B4D9-D59FEF37F0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71169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7DB19CCD-A848-4A11-9506-32D32ACD4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0538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7AB7710-9929-49DA-B7B2-933B73954F8E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8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4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848787F0-71AD-454B-801F-BD480A72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3B58D33E-B9FA-4A7D-B869-3664E9ED16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949A76CA-7D84-4B63-B310-D21834A2F5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6" name="Текст 5">
            <a:extLst>
              <a:ext uri="{FF2B5EF4-FFF2-40B4-BE49-F238E27FC236}">
                <a16:creationId xmlns:a16="http://schemas.microsoft.com/office/drawing/2014/main" id="{24637984-F23E-47BD-B4FE-AF32B66D9A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D325BDFE-4A4A-4011-854C-4FE5195C53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73E913B8-CAD3-4AB3-9B21-249A68FEF6EC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2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коло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>
            <a:extLst>
              <a:ext uri="{FF2B5EF4-FFF2-40B4-BE49-F238E27FC236}">
                <a16:creationId xmlns:a16="http://schemas.microsoft.com/office/drawing/2014/main" id="{350F4429-9256-53BB-F6C1-F98C03A908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FC392765-800D-786C-3FFE-C1B29265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19F3BDE-2195-FD0A-24B2-04252849F8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1E72A008-CE1E-0EC3-D45E-AD8B29ED0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312AC43F-FB9B-C31C-2FF6-1D5567CEEA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517867C0-6FFF-F248-80D5-2864086573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5">
            <a:extLst>
              <a:ext uri="{FF2B5EF4-FFF2-40B4-BE49-F238E27FC236}">
                <a16:creationId xmlns:a16="http://schemas.microsoft.com/office/drawing/2014/main" id="{976D720F-77D1-A3E1-0596-9FA8DF4894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D76274C0-5F8A-24AA-D1DD-4A7D52BB95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273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3C47AEBB-213D-4FBA-8C7A-C03182FD0B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 dirty="0">
                <a:solidFill>
                  <a:srgbClr val="151515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657222D0-2266-421E-919A-22CDFA5F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8A30958F-1C5F-4595-84D3-3B89BE67C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800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0E01B0C-330A-4F2F-9385-B668B65C94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олилиния: фигура 3">
            <a:extLst>
              <a:ext uri="{FF2B5EF4-FFF2-40B4-BE49-F238E27FC236}">
                <a16:creationId xmlns:a16="http://schemas.microsoft.com/office/drawing/2014/main" id="{22A38065-1B43-4454-AF9D-8F39AC6AE76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973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CAC5832F-6F9A-B4E9-5390-A28D8A2CE3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 dirty="0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1C8079-72D3-6602-C397-BD0C1378428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43C070A8-C4CD-4466-8E88-3ABCA0EA5474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8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голубой фо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BECC6C19-66D5-4858-A653-52D0D3A0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89D2067-3F18-4221-B5C7-15FDC5B8BF13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4BFD3AEA-9FA9-40C1-B1A6-918891FC18BA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66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темный фон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86A226E4-7A0D-4EC2-A7C9-D7E18AFC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9A55F56-D185-441E-8812-A52E504557D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A381C83F-9044-4565-8177-EB253993FB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327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леньки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277B6A-C9C1-4BED-B660-DD42A748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4967F6DB-6280-4C1C-976B-8462F876A9F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096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6D5201F-72FD-4581-81CF-954A66160840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8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 за внимание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ABF69-A5D4-7CFF-0A5C-96DEAC997DE6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6EAA13-9B8C-FF49-F97B-81002E15C0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5" name="Т1">
            <a:extLst>
              <a:ext uri="{FF2B5EF4-FFF2-40B4-BE49-F238E27FC236}">
                <a16:creationId xmlns:a16="http://schemas.microsoft.com/office/drawing/2014/main" id="{E10652EA-C7D2-A5BF-C8AC-6BA408361A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1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 за внимание и QR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689B4A-5D9C-7267-4C37-54B5F7076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358295">
            <a:off x="6556549" y="1088921"/>
            <a:ext cx="6316599" cy="7007229"/>
          </a:xfrm>
          <a:custGeom>
            <a:avLst/>
            <a:gdLst>
              <a:gd name="connsiteX0" fmla="*/ 0 w 6316599"/>
              <a:gd name="connsiteY0" fmla="*/ 1294449 h 7007229"/>
              <a:gd name="connsiteX1" fmla="*/ 3103871 w 6316599"/>
              <a:gd name="connsiteY1" fmla="*/ 0 h 7007229"/>
              <a:gd name="connsiteX2" fmla="*/ 4381081 w 6316599"/>
              <a:gd name="connsiteY2" fmla="*/ 0 h 7007229"/>
              <a:gd name="connsiteX3" fmla="*/ 6316599 w 6316599"/>
              <a:gd name="connsiteY3" fmla="*/ 4641049 h 7007229"/>
              <a:gd name="connsiteX4" fmla="*/ 642895 w 6316599"/>
              <a:gd name="connsiteY4" fmla="*/ 7007229 h 7007229"/>
              <a:gd name="connsiteX5" fmla="*/ 0 w 6316599"/>
              <a:gd name="connsiteY5" fmla="*/ 5465675 h 700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6599" h="7007229">
                <a:moveTo>
                  <a:pt x="0" y="1294449"/>
                </a:moveTo>
                <a:lnTo>
                  <a:pt x="3103871" y="0"/>
                </a:lnTo>
                <a:lnTo>
                  <a:pt x="4381081" y="0"/>
                </a:lnTo>
                <a:lnTo>
                  <a:pt x="6316599" y="4641049"/>
                </a:lnTo>
                <a:lnTo>
                  <a:pt x="642895" y="7007229"/>
                </a:lnTo>
                <a:lnTo>
                  <a:pt x="0" y="5465675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774A2-7A56-4E9C-8164-03644F2CEDE1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00FCA787-4B67-451C-AB5E-D0B03DA600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028" y="2680536"/>
            <a:ext cx="2260600" cy="2260600"/>
          </a:xfrm>
          <a:prstGeom prst="roundRect">
            <a:avLst>
              <a:gd name="adj" fmla="val 4115"/>
            </a:avLst>
          </a:prstGeom>
          <a:solidFill>
            <a:schemeClr val="bg1"/>
          </a:solidFill>
        </p:spPr>
        <p:txBody>
          <a:bodyPr lIns="144000" tIns="144000" rIns="144000" bIns="144000"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QR-code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84D9C-6CE6-4DD1-9823-74C9DCDD7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5443" y="2680537"/>
            <a:ext cx="3605553" cy="4659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ru-RU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ru-RU" dirty="0"/>
              <a:t>Контактные данные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487492-A99D-4DCA-9999-F8E23C5CCA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15443" y="4641098"/>
            <a:ext cx="3605493" cy="300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 слайда</a:t>
            </a:r>
          </a:p>
        </p:txBody>
      </p:sp>
      <p:pic>
        <p:nvPicPr>
          <p:cNvPr id="10" name="Т1">
            <a:extLst>
              <a:ext uri="{FF2B5EF4-FFF2-40B4-BE49-F238E27FC236}">
                <a16:creationId xmlns:a16="http://schemas.microsoft.com/office/drawing/2014/main" id="{DE7A2156-8DCB-910F-CE9D-D252F133E3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42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1">
            <a:extLst>
              <a:ext uri="{FF2B5EF4-FFF2-40B4-BE49-F238E27FC236}">
                <a16:creationId xmlns:a16="http://schemas.microsoft.com/office/drawing/2014/main" id="{CA63CDCD-30A2-4DA6-B570-31B3BF14C402}"/>
              </a:ext>
            </a:extLst>
          </p:cNvPr>
          <p:cNvSpPr txBox="1">
            <a:spLocks/>
          </p:cNvSpPr>
          <p:nvPr userDrawn="1"/>
        </p:nvSpPr>
        <p:spPr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D0594BD2-AC30-4D23-AF81-DDFAF8AA79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0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663" r:id="rId2"/>
    <p:sldLayoutId id="2147483689" r:id="rId3"/>
    <p:sldLayoutId id="2147483688" r:id="rId4"/>
    <p:sldLayoutId id="2147483678" r:id="rId5"/>
    <p:sldLayoutId id="2147483679" r:id="rId6"/>
    <p:sldLayoutId id="2147483747" r:id="rId7"/>
    <p:sldLayoutId id="2147483682" r:id="rId8"/>
    <p:sldLayoutId id="2147483681" r:id="rId9"/>
    <p:sldLayoutId id="2147483748" r:id="rId10"/>
    <p:sldLayoutId id="2147483680" r:id="rId11"/>
    <p:sldLayoutId id="2147483749" r:id="rId12"/>
    <p:sldLayoutId id="2147483683" r:id="rId13"/>
    <p:sldLayoutId id="2147483684" r:id="rId14"/>
    <p:sldLayoutId id="2147483692" r:id="rId15"/>
    <p:sldLayoutId id="2147483686" r:id="rId16"/>
    <p:sldLayoutId id="2147483741" r:id="rId17"/>
    <p:sldLayoutId id="2147483743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72" userDrawn="1">
          <p15:clr>
            <a:srgbClr val="A4A3A4"/>
          </p15:clr>
        </p15:guide>
        <p15:guide id="4" pos="393" userDrawn="1">
          <p15:clr>
            <a:srgbClr val="AFE0FF"/>
          </p15:clr>
        </p15:guide>
        <p15:guide id="5" pos="514" userDrawn="1">
          <p15:clr>
            <a:srgbClr val="AFE0FF"/>
          </p15:clr>
        </p15:guide>
        <p15:guide id="6" pos="634" userDrawn="1">
          <p15:clr>
            <a:srgbClr val="AFE0FF"/>
          </p15:clr>
        </p15:guide>
        <p15:guide id="7" pos="755" userDrawn="1">
          <p15:clr>
            <a:srgbClr val="AFE0FF"/>
          </p15:clr>
        </p15:guide>
        <p15:guide id="8" pos="876" userDrawn="1">
          <p15:clr>
            <a:srgbClr val="AFE0FF"/>
          </p15:clr>
        </p15:guide>
        <p15:guide id="9" pos="997" userDrawn="1">
          <p15:clr>
            <a:srgbClr val="AFE0FF"/>
          </p15:clr>
        </p15:guide>
        <p15:guide id="10" pos="1118" userDrawn="1">
          <p15:clr>
            <a:srgbClr val="AFE0FF"/>
          </p15:clr>
        </p15:guide>
        <p15:guide id="11" pos="1239" userDrawn="1">
          <p15:clr>
            <a:srgbClr val="AFE0FF"/>
          </p15:clr>
        </p15:guide>
        <p15:guide id="12" pos="1360" userDrawn="1">
          <p15:clr>
            <a:srgbClr val="AFE0FF"/>
          </p15:clr>
        </p15:guide>
        <p15:guide id="13" pos="1481" userDrawn="1">
          <p15:clr>
            <a:srgbClr val="AFE0FF"/>
          </p15:clr>
        </p15:guide>
        <p15:guide id="14" pos="1602" userDrawn="1">
          <p15:clr>
            <a:srgbClr val="AFE0FF"/>
          </p15:clr>
        </p15:guide>
        <p15:guide id="15" pos="1723" userDrawn="1">
          <p15:clr>
            <a:srgbClr val="AFE0FF"/>
          </p15:clr>
        </p15:guide>
        <p15:guide id="16" pos="1844" userDrawn="1">
          <p15:clr>
            <a:srgbClr val="AFE0FF"/>
          </p15:clr>
        </p15:guide>
        <p15:guide id="17" pos="1958" userDrawn="1">
          <p15:clr>
            <a:srgbClr val="A4A3A4"/>
          </p15:clr>
        </p15:guide>
        <p15:guide id="18" pos="2094" userDrawn="1">
          <p15:clr>
            <a:srgbClr val="A4A3A4"/>
          </p15:clr>
        </p15:guide>
        <p15:guide id="19" pos="2207" userDrawn="1">
          <p15:clr>
            <a:srgbClr val="AFE0FF"/>
          </p15:clr>
        </p15:guide>
        <p15:guide id="20" pos="2328" userDrawn="1">
          <p15:clr>
            <a:srgbClr val="AFE0FF"/>
          </p15:clr>
        </p15:guide>
        <p15:guide id="21" pos="2449" userDrawn="1">
          <p15:clr>
            <a:srgbClr val="AFE0FF"/>
          </p15:clr>
        </p15:guide>
        <p15:guide id="22" pos="2570" userDrawn="1">
          <p15:clr>
            <a:srgbClr val="A4A3A4"/>
          </p15:clr>
        </p15:guide>
        <p15:guide id="23" pos="2691" userDrawn="1">
          <p15:clr>
            <a:srgbClr val="A4A3A4"/>
          </p15:clr>
        </p15:guide>
        <p15:guide id="24" pos="2811" userDrawn="1">
          <p15:clr>
            <a:srgbClr val="AFE0FF"/>
          </p15:clr>
        </p15:guide>
        <p15:guide id="25" pos="2932" userDrawn="1">
          <p15:clr>
            <a:srgbClr val="AFE0FF"/>
          </p15:clr>
        </p15:guide>
        <p15:guide id="26" pos="3053" userDrawn="1">
          <p15:clr>
            <a:srgbClr val="AFE0FF"/>
          </p15:clr>
        </p15:guide>
        <p15:guide id="27" pos="3174" userDrawn="1">
          <p15:clr>
            <a:srgbClr val="AFE0FF"/>
          </p15:clr>
        </p15:guide>
        <p15:guide id="28" pos="3295" userDrawn="1">
          <p15:clr>
            <a:srgbClr val="AFE0FF"/>
          </p15:clr>
        </p15:guide>
        <p15:guide id="29" pos="3416" userDrawn="1">
          <p15:clr>
            <a:srgbClr val="AFE0FF"/>
          </p15:clr>
        </p15:guide>
        <p15:guide id="30" pos="3537" userDrawn="1">
          <p15:clr>
            <a:srgbClr val="AFE0FF"/>
          </p15:clr>
        </p15:guide>
        <p15:guide id="31" pos="3658" userDrawn="1">
          <p15:clr>
            <a:srgbClr val="AFE0FF"/>
          </p15:clr>
        </p15:guide>
        <p15:guide id="32" pos="3779" userDrawn="1">
          <p15:clr>
            <a:srgbClr val="A4A3A4"/>
          </p15:clr>
        </p15:guide>
        <p15:guide id="33" pos="3900" userDrawn="1">
          <p15:clr>
            <a:srgbClr val="A4A3A4"/>
          </p15:clr>
        </p15:guide>
        <p15:guide id="34" pos="4021" userDrawn="1">
          <p15:clr>
            <a:srgbClr val="AFE0FF"/>
          </p15:clr>
        </p15:guide>
        <p15:guide id="35" pos="4142" userDrawn="1">
          <p15:clr>
            <a:srgbClr val="AFE0FF"/>
          </p15:clr>
        </p15:guide>
        <p15:guide id="36" pos="4263" userDrawn="1">
          <p15:clr>
            <a:srgbClr val="AFE0FF"/>
          </p15:clr>
        </p15:guide>
        <p15:guide id="37" pos="4384" userDrawn="1">
          <p15:clr>
            <a:srgbClr val="AFE0FF"/>
          </p15:clr>
        </p15:guide>
        <p15:guide id="38" pos="4505" userDrawn="1">
          <p15:clr>
            <a:srgbClr val="AFE0FF"/>
          </p15:clr>
        </p15:guide>
        <p15:guide id="39" pos="4626" userDrawn="1">
          <p15:clr>
            <a:srgbClr val="AFE0FF"/>
          </p15:clr>
        </p15:guide>
        <p15:guide id="40" pos="4747" userDrawn="1">
          <p15:clr>
            <a:srgbClr val="AFE0FF"/>
          </p15:clr>
        </p15:guide>
        <p15:guide id="41" pos="4868" userDrawn="1">
          <p15:clr>
            <a:srgbClr val="AFE0FF"/>
          </p15:clr>
        </p15:guide>
        <p15:guide id="42" pos="4988" userDrawn="1">
          <p15:clr>
            <a:srgbClr val="A4A3A4"/>
          </p15:clr>
        </p15:guide>
        <p15:guide id="43" pos="5109" userDrawn="1">
          <p15:clr>
            <a:srgbClr val="A4A3A4"/>
          </p15:clr>
        </p15:guide>
        <p15:guide id="44" pos="5230" userDrawn="1">
          <p15:clr>
            <a:srgbClr val="AFE0FF"/>
          </p15:clr>
        </p15:guide>
        <p15:guide id="45" pos="5351" userDrawn="1">
          <p15:clr>
            <a:srgbClr val="AFE0FF"/>
          </p15:clr>
        </p15:guide>
        <p15:guide id="46" pos="5472" userDrawn="1">
          <p15:clr>
            <a:srgbClr val="AFE0FF"/>
          </p15:clr>
        </p15:guide>
        <p15:guide id="47" pos="5593" userDrawn="1">
          <p15:clr>
            <a:srgbClr val="A4A3A4"/>
          </p15:clr>
        </p15:guide>
        <p15:guide id="48" pos="5714" userDrawn="1">
          <p15:clr>
            <a:srgbClr val="A4A3A4"/>
          </p15:clr>
        </p15:guide>
        <p15:guide id="49" pos="5835" userDrawn="1">
          <p15:clr>
            <a:srgbClr val="AFE0FF"/>
          </p15:clr>
        </p15:guide>
        <p15:guide id="50" pos="5956" userDrawn="1">
          <p15:clr>
            <a:srgbClr val="AFE0FF"/>
          </p15:clr>
        </p15:guide>
        <p15:guide id="51" pos="6077" userDrawn="1">
          <p15:clr>
            <a:srgbClr val="AFE0FF"/>
          </p15:clr>
        </p15:guide>
        <p15:guide id="52" pos="6198" userDrawn="1">
          <p15:clr>
            <a:srgbClr val="AFE0FF"/>
          </p15:clr>
        </p15:guide>
        <p15:guide id="53" pos="6335" userDrawn="1">
          <p15:clr>
            <a:srgbClr val="AFE0FF"/>
          </p15:clr>
        </p15:guide>
        <p15:guide id="54" pos="6440" userDrawn="1">
          <p15:clr>
            <a:srgbClr val="AFE0FF"/>
          </p15:clr>
        </p15:guide>
        <p15:guide id="55" pos="6561" userDrawn="1">
          <p15:clr>
            <a:srgbClr val="AFE0FF"/>
          </p15:clr>
        </p15:guide>
        <p15:guide id="56" pos="6682" userDrawn="1">
          <p15:clr>
            <a:srgbClr val="AFE0FF"/>
          </p15:clr>
        </p15:guide>
        <p15:guide id="57" pos="6803" userDrawn="1">
          <p15:clr>
            <a:srgbClr val="AFE0FF"/>
          </p15:clr>
        </p15:guide>
        <p15:guide id="58" pos="6924" userDrawn="1">
          <p15:clr>
            <a:srgbClr val="AFE0FF"/>
          </p15:clr>
        </p15:guide>
        <p15:guide id="59" pos="7045" userDrawn="1">
          <p15:clr>
            <a:srgbClr val="AFE0FF"/>
          </p15:clr>
        </p15:guide>
        <p15:guide id="60" pos="7165" userDrawn="1">
          <p15:clr>
            <a:srgbClr val="AFE0FF"/>
          </p15:clr>
        </p15:guide>
        <p15:guide id="61" pos="7286" userDrawn="1">
          <p15:clr>
            <a:srgbClr val="AFE0FF"/>
          </p15:clr>
        </p15:guide>
        <p15:guide id="62" pos="7407" userDrawn="1">
          <p15:clr>
            <a:srgbClr val="A4A3A4"/>
          </p15:clr>
        </p15:guide>
        <p15:guide id="65" orient="horz" pos="272" userDrawn="1">
          <p15:clr>
            <a:srgbClr val="A4A3A4"/>
          </p15:clr>
        </p15:guide>
        <p15:guide id="66" orient="horz" pos="393" userDrawn="1">
          <p15:clr>
            <a:srgbClr val="AFE0FF"/>
          </p15:clr>
        </p15:guide>
        <p15:guide id="67" orient="horz" pos="504" userDrawn="1">
          <p15:clr>
            <a:srgbClr val="AFE0FF"/>
          </p15:clr>
        </p15:guide>
        <p15:guide id="68" orient="horz" pos="637" userDrawn="1">
          <p15:clr>
            <a:srgbClr val="AFE0FF"/>
          </p15:clr>
        </p15:guide>
        <p15:guide id="69" orient="horz" pos="754" userDrawn="1">
          <p15:clr>
            <a:srgbClr val="AFE0FF"/>
          </p15:clr>
        </p15:guide>
        <p15:guide id="70" orient="horz" pos="867" userDrawn="1">
          <p15:clr>
            <a:srgbClr val="AFE0FF"/>
          </p15:clr>
        </p15:guide>
        <p15:guide id="71" orient="horz" pos="1002" userDrawn="1">
          <p15:clr>
            <a:srgbClr val="AFE0FF"/>
          </p15:clr>
        </p15:guide>
        <p15:guide id="72" orient="horz" pos="1124" userDrawn="1">
          <p15:clr>
            <a:srgbClr val="AFE0FF"/>
          </p15:clr>
        </p15:guide>
        <p15:guide id="73" orient="horz" pos="1246" userDrawn="1">
          <p15:clr>
            <a:srgbClr val="AFE0FF"/>
          </p15:clr>
        </p15:guide>
        <p15:guide id="74" orient="horz" pos="1368" userDrawn="1">
          <p15:clr>
            <a:srgbClr val="AFE0FF"/>
          </p15:clr>
        </p15:guide>
        <p15:guide id="75" orient="horz" pos="1490" userDrawn="1">
          <p15:clr>
            <a:srgbClr val="AFE0FF"/>
          </p15:clr>
        </p15:guide>
        <p15:guide id="76" orient="horz" pos="1611" userDrawn="1">
          <p15:clr>
            <a:srgbClr val="AFE0FF"/>
          </p15:clr>
        </p15:guide>
        <p15:guide id="77" orient="horz" pos="1733" userDrawn="1">
          <p15:clr>
            <a:srgbClr val="AFE0FF"/>
          </p15:clr>
        </p15:guide>
        <p15:guide id="78" orient="horz" pos="1855" userDrawn="1">
          <p15:clr>
            <a:srgbClr val="AFE0FF"/>
          </p15:clr>
        </p15:guide>
        <p15:guide id="79" orient="horz" pos="1977" userDrawn="1">
          <p15:clr>
            <a:srgbClr val="AFE0FF"/>
          </p15:clr>
        </p15:guide>
        <p15:guide id="80" orient="horz" pos="2099" userDrawn="1">
          <p15:clr>
            <a:srgbClr val="AFE0FF"/>
          </p15:clr>
        </p15:guide>
        <p15:guide id="81" orient="horz" pos="2228" userDrawn="1">
          <p15:clr>
            <a:srgbClr val="AFE0FF"/>
          </p15:clr>
        </p15:guide>
        <p15:guide id="82" orient="horz" pos="2342" userDrawn="1">
          <p15:clr>
            <a:srgbClr val="AFE0FF"/>
          </p15:clr>
        </p15:guide>
        <p15:guide id="83" orient="horz" pos="2464" userDrawn="1">
          <p15:clr>
            <a:srgbClr val="AFE0FF"/>
          </p15:clr>
        </p15:guide>
        <p15:guide id="84" orient="horz" pos="2586" userDrawn="1">
          <p15:clr>
            <a:srgbClr val="AFE0FF"/>
          </p15:clr>
        </p15:guide>
        <p15:guide id="85" orient="horz" pos="2708" userDrawn="1">
          <p15:clr>
            <a:srgbClr val="AFE0FF"/>
          </p15:clr>
        </p15:guide>
        <p15:guide id="86" orient="horz" pos="2829" userDrawn="1">
          <p15:clr>
            <a:srgbClr val="AFE0FF"/>
          </p15:clr>
        </p15:guide>
        <p15:guide id="87" orient="horz" pos="2951" userDrawn="1">
          <p15:clr>
            <a:srgbClr val="AFE0FF"/>
          </p15:clr>
        </p15:guide>
        <p15:guide id="88" orient="horz" pos="3067" userDrawn="1">
          <p15:clr>
            <a:srgbClr val="AFE0FF"/>
          </p15:clr>
        </p15:guide>
        <p15:guide id="89" orient="horz" pos="3195" userDrawn="1">
          <p15:clr>
            <a:srgbClr val="AFE0FF"/>
          </p15:clr>
        </p15:guide>
        <p15:guide id="90" orient="horz" pos="3317" userDrawn="1">
          <p15:clr>
            <a:srgbClr val="AFE0FF"/>
          </p15:clr>
        </p15:guide>
        <p15:guide id="91" orient="horz" pos="3438" userDrawn="1">
          <p15:clr>
            <a:srgbClr val="AFE0FF"/>
          </p15:clr>
        </p15:guide>
        <p15:guide id="92" orient="horz" pos="3560" userDrawn="1">
          <p15:clr>
            <a:srgbClr val="AFE0FF"/>
          </p15:clr>
        </p15:guide>
        <p15:guide id="93" orient="horz" pos="3682" userDrawn="1">
          <p15:clr>
            <a:srgbClr val="AFE0FF"/>
          </p15:clr>
        </p15:guide>
        <p15:guide id="94" orient="horz" pos="3804" userDrawn="1">
          <p15:clr>
            <a:srgbClr val="AFE0FF"/>
          </p15:clr>
        </p15:guide>
        <p15:guide id="95" orient="horz" pos="3926" userDrawn="1">
          <p15:clr>
            <a:srgbClr val="AFE0FF"/>
          </p15:clr>
        </p15:guide>
        <p15:guide id="96" pos="3719" userDrawn="1">
          <p15:clr>
            <a:srgbClr val="AFE0FF"/>
          </p15:clr>
        </p15:guide>
        <p15:guide id="97" pos="3962" userDrawn="1">
          <p15:clr>
            <a:srgbClr val="AFE0FF"/>
          </p15:clr>
        </p15:guide>
        <p15:guide id="98" orient="horz" pos="4042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Управление по работе с бизнес-мероприятиями</a:t>
            </a:r>
          </a:p>
          <a:p>
            <a:r>
              <a:t>Холдинг Т1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Методика оценки эффективности</a:t>
            </a:r>
          </a:p>
          <a:p>
            <a:r>
              <a:t>спонсорских мероприятий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Зачем нужна методика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 проблемы к решению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ПРОБЛЕМА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Нет единой метрики для сравнения мероприятий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Субъективность оценки спонсорских пакетов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Сложно обосновать ROI перед руководством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Нет системы для решений «участвовать / нет»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РЕШЕНИЕ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Комплексная матрица: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Количественные метрики (охват, лиды, ROI)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Качественная оценка опций (k-коэффициенты)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• Единый индекс для сравнения (КБМ)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матрицы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620000"/>
            <a:ext cx="1620000" cy="7920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БЛОК 1</a:t>
            </a:r>
            <a:br/>
            <a:r>
              <a:t>Общая</a:t>
            </a:r>
            <a:br/>
            <a:r>
              <a:t>информация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68000" y="1620000"/>
            <a:ext cx="1620000" cy="7920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БЛОК 2</a:t>
            </a:r>
            <a:br/>
            <a:r>
              <a:t>Исходные</a:t>
            </a:r>
            <a:br/>
            <a:r>
              <a:t>данные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6000" y="1620000"/>
            <a:ext cx="1620000" cy="792000"/>
          </a:xfrm>
          <a:prstGeom prst="round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БЛОК 3</a:t>
            </a:r>
            <a:br/>
            <a:r>
              <a:t>Метрики</a:t>
            </a:r>
            <a:br/>
            <a:r>
              <a:t>(авто)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4000" y="1620000"/>
            <a:ext cx="1620000" cy="792000"/>
          </a:xfrm>
          <a:prstGeom prst="round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БЛОК 4</a:t>
            </a:r>
            <a:br/>
            <a:r>
              <a:t>Индекс</a:t>
            </a:r>
            <a:br/>
            <a:r>
              <a:t>опций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000" y="1620000"/>
            <a:ext cx="1620000" cy="792000"/>
          </a:xfrm>
          <a:prstGeom prst="round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БЛОК 5</a:t>
            </a:r>
            <a:br/>
            <a:r>
              <a:t>КБМ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700000"/>
            <a:ext cx="2520000" cy="12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МЕТРИКИ</a:t>
            </a:r>
            <a:br/>
            <a:br/>
            <a:r>
              <a:t>OTS — охват</a:t>
            </a:r>
            <a:br/>
            <a:r>
              <a:t>GRP — контакты</a:t>
            </a:r>
            <a:br/>
            <a:r>
              <a:t>CPL — стоимость лида</a:t>
            </a:r>
            <a:br/>
            <a:r>
              <a:t>CR — конверсия</a:t>
            </a:r>
            <a:br/>
            <a:r>
              <a:t>ROI — возврат инвестиций</a:t>
            </a:r>
            <a:br/>
            <a:r>
              <a:t>NPS — лояльность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2700000"/>
            <a:ext cx="2160000" cy="12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СПОНСОРСКИЕ ОПЦИИ</a:t>
            </a:r>
            <a:br/>
            <a:br/>
            <a:r>
              <a:t>p1: Стенд</a:t>
            </a:r>
            <a:br/>
            <a:r>
              <a:t>p2: Сессия</a:t>
            </a:r>
            <a:br/>
            <a:r>
              <a:t>p3: Сайт</a:t>
            </a:r>
            <a:br/>
            <a:r>
              <a:t>p4: Логотип</a:t>
            </a:r>
            <a:br/>
            <a:r>
              <a:t>p5: Сувениры</a:t>
            </a:r>
            <a:br/>
            <a:r>
              <a:t>p6: Активации</a:t>
            </a:r>
            <a:br/>
            <a:r>
              <a:t>p7: Нетворкинг</a:t>
            </a:r>
            <a:br/>
            <a:r>
              <a:t>p8: Прочее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0000" y="2700000"/>
            <a:ext cx="1980000" cy="12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ШКАЛА k</a:t>
            </a:r>
            <a:br/>
            <a:br/>
            <a:r>
              <a:t>k=5 максимум</a:t>
            </a:r>
            <a:br/>
            <a:r>
              <a:t>k=4 хорошо</a:t>
            </a:r>
            <a:br/>
            <a:r>
              <a:t>k=3 средне</a:t>
            </a:r>
            <a:br/>
            <a:r>
              <a:t>k=2 слабо</a:t>
            </a:r>
            <a:br/>
            <a:r>
              <a:t>k=1 минимум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14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Idx = Σ(k₁...kₙ) / n     |     КБМ = w₁×GRP + w₂×Idx + w₃×(1/CPL) + w₄×CR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Формула КБМ и расчёт на реальных данных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Комплексный балл и пример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ФОРМУЛА КБМ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КБМ = w₁×GRP + w₂×Idx + w₃×(1/CPL) + w₄×CR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Веса (рекомендация):</a:t>
            </a:r>
          </a:p>
          <a:p>
            <a:pPr>
              <a:spcAft>
                <a:spcPts val="600"/>
              </a:spcAft>
            </a:pPr>
            <a:r>
              <a:t>• w₁ (GRP) = 25%</a:t>
            </a:r>
          </a:p>
          <a:p>
            <a:pPr>
              <a:spcAft>
                <a:spcPts val="600"/>
              </a:spcAft>
            </a:pPr>
            <a:r>
              <a:t>• w₂ (Idx) = 20%</a:t>
            </a:r>
          </a:p>
          <a:p>
            <a:pPr>
              <a:spcAft>
                <a:spcPts val="600"/>
              </a:spcAft>
            </a:pPr>
            <a:r>
              <a:t>• w₃ (1/CPL) = 30%</a:t>
            </a:r>
          </a:p>
          <a:p>
            <a:pPr>
              <a:spcAft>
                <a:spcPts val="600"/>
              </a:spcAft>
            </a:pPr>
            <a:r>
              <a:t>• w₄ (CR) = 25%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Настраиваются под стратегию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СРАВНЕНИЕ (2024-25)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             ПМГФ | Smart M. | Белые ночи</a:t>
            </a:r>
          </a:p>
          <a:p>
            <a:pPr>
              <a:spcAft>
                <a:spcPts val="600"/>
              </a:spcAft>
            </a:pPr>
            <a:r>
              <a:t>Участник:    Т1      НОТА       DION</a:t>
            </a:r>
          </a:p>
          <a:p>
            <a:pPr>
              <a:spcAft>
                <a:spcPts val="600"/>
              </a:spcAft>
            </a:pPr>
            <a:r>
              <a:t>Охват:     34 400    554        375</a:t>
            </a:r>
          </a:p>
          <a:p>
            <a:pPr>
              <a:spcAft>
                <a:spcPts val="600"/>
              </a:spcAft>
            </a:pPr>
            <a:r>
              <a:t>Встречи:     15        6         16</a:t>
            </a:r>
          </a:p>
          <a:p>
            <a:pPr>
              <a:spcAft>
                <a:spcPts val="600"/>
              </a:spcAft>
            </a:pPr>
            <a:r>
              <a:t>GRP:       0,54%   15,16%    20,27%</a:t>
            </a:r>
          </a:p>
          <a:p>
            <a:pPr>
              <a:spcAft>
                <a:spcPts val="600"/>
              </a:spcAft>
            </a:pPr>
            <a:r>
              <a:t>Idx:        2,75      —        3,33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→ Белые ночи: лучший GRP и Idx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Внедрение методики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Что даёт методика: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✓ Объективное сравнение мероприятий разных форматов</a:t>
            </a:r>
          </a:p>
          <a:p>
            <a:pPr>
              <a:spcAft>
                <a:spcPts val="600"/>
              </a:spcAft>
            </a:pPr>
            <a:r>
              <a:t>✓ Обоснование бюджетов на спонсорство</a:t>
            </a:r>
          </a:p>
          <a:p>
            <a:pPr>
              <a:spcAft>
                <a:spcPts val="600"/>
              </a:spcAft>
            </a:pPr>
            <a:r>
              <a:t>✓ Данные для решений «участвовать / отказаться»</a:t>
            </a:r>
          </a:p>
          <a:p>
            <a:pPr>
              <a:spcAft>
                <a:spcPts val="600"/>
              </a:spcAft>
            </a:pPr>
            <a:r>
              <a:t>✓ Единый язык для маркетинга и бизнеса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Процесс: матрицу заполняет ивент-менеджер на основе данных от организаторов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Следующие шаги: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1. Утвердить веса КБМ под стратегию компании</a:t>
            </a:r>
          </a:p>
          <a:p>
            <a:pPr>
              <a:spcAft>
                <a:spcPts val="600"/>
              </a:spcAft>
            </a:pPr>
            <a:r>
              <a:t>2. Пилот на 3-5 мероприятиях Q2 2025</a:t>
            </a:r>
          </a:p>
          <a:p>
            <a:pPr>
              <a:spcAft>
                <a:spcPts val="600"/>
              </a:spcAft>
            </a:pPr>
            <a:r>
              <a:t>3. Интеграция в процесс планирования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</TotalTime>
  <Words>138</Words>
  <Application>Microsoft Macintosh PowerPoint</Application>
  <PresentationFormat>Широкоэкранный</PresentationFormat>
  <Paragraphs>49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ALS Hauss</vt:lpstr>
      <vt:lpstr>ALS Hauss Medium</vt:lpstr>
      <vt:lpstr>Arial</vt:lpstr>
      <vt:lpstr>Calibri</vt:lpstr>
      <vt:lpstr>Основной шаблон Т1</vt:lpstr>
      <vt:lpstr>Шаблон презентаций Холдинга Т1</vt:lpstr>
      <vt:lpstr>Обложка раздела</vt:lpstr>
      <vt:lpstr>Обложка раздела</vt:lpstr>
      <vt:lpstr>Презентация PowerPoint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Версия уменьшенного заголовка для больших схем или таблиц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cp:lastModifiedBy>Дорохина Наталья Сергеевна</cp:lastModifiedBy>
  <cp:revision>153</cp:revision>
  <dcterms:created xsi:type="dcterms:W3CDTF">2023-02-20T15:32:58Z</dcterms:created>
  <dcterms:modified xsi:type="dcterms:W3CDTF">2024-12-05T10:12:00Z</dcterms:modified>
  <cp:category/>
</cp:coreProperties>
</file>