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9"/>
    <p:sldId id="26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оценки эффективности</a:t>
            </a:r>
          </a:p>
          <a:p>
            <a:r>
              <a:t>спонсорских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Текущие вызовы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как оценить спонсорство?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Нет единой метрики для сравнения мероприятий разных форматов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Субъективность оценки спонсорских пакетов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Сложно обосновать ROI спонсорства перед руководством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Отсутствует система для принятия решений «участвовать / не участвовать»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→ Нужен комплексный инструмент оценки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Комплексный подход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Решение: Матрица оценки эффективности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Разработана матрица, объединяющая: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Количественные метрики (охват, лиды, конверсия, ROI)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Качественную оценку спонсорских опций (коэффициенты k)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Комплексный балл мероприятия (КБМ) для сравнения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Результат: объективное сравнение любых мероприятий по единой шкале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Структура данных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матрицы: 5 блоков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БЛОК 1. Общая информация</a:t>
            </a:r>
          </a:p>
          <a:p>
            <a:pPr>
              <a:spcAft>
                <a:spcPts val="600"/>
              </a:spcAft>
            </a:pPr>
            <a:r>
              <a:t>    Название, дата, город, участник, приоритет, категория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БЛОК 2. Исходные данные (ввод)</a:t>
            </a:r>
          </a:p>
          <a:p>
            <a:pPr>
              <a:spcAft>
                <a:spcPts val="600"/>
              </a:spcAft>
            </a:pPr>
            <a:r>
              <a:t>    Участники, встречи, контакты, бюджет, доход, NPS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БЛОК 3. Расчётные метрики (авто)</a:t>
            </a:r>
          </a:p>
          <a:p>
            <a:pPr>
              <a:spcAft>
                <a:spcPts val="600"/>
              </a:spcAft>
            </a:pPr>
            <a:r>
              <a:t>    OTS, GRP, CPL, CPA, ROI, ROMI, NPS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БЛОК 4. Индекс спонсорских опций</a:t>
            </a:r>
          </a:p>
          <a:p>
            <a:pPr>
              <a:spcAft>
                <a:spcPts val="600"/>
              </a:spcAft>
            </a:pPr>
            <a:r>
              <a:t>    8 параметров × коэффициент значимости (k от 1 до 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БЛОК 5. Комплексный балл мероприятия (КБМ)</a:t>
            </a:r>
          </a:p>
          <a:p>
            <a:pPr>
              <a:spcAft>
                <a:spcPts val="600"/>
              </a:spcAft>
            </a:pPr>
            <a:r>
              <a:t>    Итоговая взвешенная оценка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Что измеряем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OTS (Opportunity To See) — максимальный охват аудитории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GRP = Касания / OTS × 100% — доля прямых контактов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CPL = Бюджет / Лиды — стоимость одного контакта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CR = Сделки / Лиды × 100% — конверсия в сделку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ROI = (Доход − Затраты) / Затраты × 100%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NPS = % Промоутеров − % Критиков — индекс лояльности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8 параметров оценки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 спонсорских опций (Idx)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p1: Выставочный стенд</a:t>
            </a:r>
          </a:p>
          <a:p>
            <a:pPr>
              <a:spcAft>
                <a:spcPts val="600"/>
              </a:spcAft>
            </a:pPr>
            <a:r>
              <a:t>p2: Сессия в деловой программе</a:t>
            </a:r>
          </a:p>
          <a:p>
            <a:pPr>
              <a:spcAft>
                <a:spcPts val="600"/>
              </a:spcAft>
            </a:pPr>
            <a:r>
              <a:t>p3: Размещение на сайте мероприятия</a:t>
            </a:r>
          </a:p>
          <a:p>
            <a:pPr>
              <a:spcAft>
                <a:spcPts val="600"/>
              </a:spcAft>
            </a:pPr>
            <a:r>
              <a:t>p4: Логотип в программе / на баннерах</a:t>
            </a:r>
          </a:p>
          <a:p>
            <a:pPr>
              <a:spcAft>
                <a:spcPts val="600"/>
              </a:spcAft>
            </a:pPr>
            <a:r>
              <a:t>p5: Сувениры / мерч в сумке участника</a:t>
            </a:r>
          </a:p>
          <a:p>
            <a:pPr>
              <a:spcAft>
                <a:spcPts val="600"/>
              </a:spcAft>
            </a:pPr>
            <a:r>
              <a:t>p6: Активации / игровые механики</a:t>
            </a:r>
          </a:p>
          <a:p>
            <a:pPr>
              <a:spcAft>
                <a:spcPts val="600"/>
              </a:spcAft>
            </a:pPr>
            <a:r>
              <a:t>p7: Нетворкинг / бизнес-завтрак</a:t>
            </a:r>
          </a:p>
          <a:p>
            <a:pPr>
              <a:spcAft>
                <a:spcPts val="600"/>
              </a:spcAft>
            </a:pPr>
            <a:r>
              <a:t>p8: Прочее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Idx = Σ(k₁...kₙ) / n,  где k ∈ [1; 5]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Итог: средневзвешенная оценка качества спонсорского пакета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Шкала оценки k от 1 до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Матрица коэффициентов значимости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Пример: Выставочный стенд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k=5  Центральный, у входа, ≥70 кв.м.</a:t>
            </a:r>
          </a:p>
          <a:p>
            <a:pPr>
              <a:spcAft>
                <a:spcPts val="600"/>
              </a:spcAft>
            </a:pPr>
            <a:r>
              <a:t>k=4  Ключевой павильон, 1-я линия</a:t>
            </a:r>
          </a:p>
          <a:p>
            <a:pPr>
              <a:spcAft>
                <a:spcPts val="600"/>
              </a:spcAft>
            </a:pPr>
            <a:r>
              <a:t>k=3  2-я линия, видимый</a:t>
            </a:r>
          </a:p>
          <a:p>
            <a:pPr>
              <a:spcAft>
                <a:spcPts val="600"/>
              </a:spcAft>
            </a:pPr>
            <a:r>
              <a:t>k=2  Угловой, малая площадь</a:t>
            </a:r>
          </a:p>
          <a:p>
            <a:pPr>
              <a:spcAft>
                <a:spcPts val="600"/>
              </a:spcAft>
            </a:pPr>
            <a:r>
              <a:t>k=1  Задворки, плохая проходимость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Аналогичная шкала разработана для всех 8 опций</a:t>
            </a:r>
          </a:p>
          <a:p>
            <a:pPr>
              <a:spcAft>
                <a:spcPts val="600"/>
              </a:spcAft>
            </a:pPr>
            <a:r>
              <a:t>(см. справочник в матрице Excel)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Итоговая формула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балл мероприятия (КБМ)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КБМ = w₁×GRP + w₂×Idx + w₃×(1/CPL) + w₄×CR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Рекомендуемые веса: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w₁ (GRP) = 25% — охват и контакты</a:t>
            </a:r>
          </a:p>
          <a:p>
            <a:pPr>
              <a:spcAft>
                <a:spcPts val="600"/>
              </a:spcAft>
            </a:pPr>
            <a:r>
              <a:t>• w₂ (Idx) = 20% — качество спонсорского пакета</a:t>
            </a:r>
          </a:p>
          <a:p>
            <a:pPr>
              <a:spcAft>
                <a:spcPts val="600"/>
              </a:spcAft>
            </a:pPr>
            <a:r>
              <a:t>• w₃ (1/CPL) = 30% — эффективность затрат на лиды</a:t>
            </a:r>
          </a:p>
          <a:p>
            <a:pPr>
              <a:spcAft>
                <a:spcPts val="600"/>
              </a:spcAft>
            </a:pPr>
            <a:r>
              <a:t>• w₄ (CR) = 25% — конверсия в сделки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Веса настраиваются под приоритеты компании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Данные 2024-2025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сравнение мероприятий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                        ПМГФ        Smart Mining    Белые ночи</a:t>
            </a:r>
          </a:p>
          <a:p>
            <a:pPr>
              <a:spcAft>
                <a:spcPts val="600"/>
              </a:spcAft>
            </a:pPr>
            <a:r>
              <a:t>Участник:            Т1 Холдинг        НОТА              DION</a:t>
            </a:r>
          </a:p>
          <a:p>
            <a:pPr>
              <a:spcAft>
                <a:spcPts val="600"/>
              </a:spcAft>
            </a:pPr>
            <a:r>
              <a:t>Зарег-но:              34 400            554               375</a:t>
            </a:r>
          </a:p>
          <a:p>
            <a:pPr>
              <a:spcAft>
                <a:spcPts val="600"/>
              </a:spcAft>
            </a:pPr>
            <a:r>
              <a:t>Встречи:                   15               6                16</a:t>
            </a:r>
          </a:p>
          <a:p>
            <a:pPr>
              <a:spcAft>
                <a:spcPts val="600"/>
              </a:spcAft>
            </a:pPr>
            <a:r>
              <a:t>Контакты:                 21             55                48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GRP:                     0,54%         15,16%           20,27%</a:t>
            </a:r>
          </a:p>
          <a:p>
            <a:pPr>
              <a:spcAft>
                <a:spcPts val="600"/>
              </a:spcAft>
            </a:pPr>
            <a:r>
              <a:t>Idx:                       2,75            —                3,33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→ Белые ночи: выше GRP и Idx при меньшем охвате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Внедрение методики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Что даёт методика: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✓ Объективное сравнение мероприятий разных форматов</a:t>
            </a:r>
          </a:p>
          <a:p>
            <a:pPr>
              <a:spcAft>
                <a:spcPts val="600"/>
              </a:spcAft>
            </a:pPr>
            <a:r>
              <a:t>✓ Обоснование бюджетов на спонсорство</a:t>
            </a:r>
          </a:p>
          <a:p>
            <a:pPr>
              <a:spcAft>
                <a:spcPts val="600"/>
              </a:spcAft>
            </a:pPr>
            <a:r>
              <a:t>✓ Данные для решений «участвовать / отказаться»</a:t>
            </a:r>
          </a:p>
          <a:p>
            <a:pPr>
              <a:spcAft>
                <a:spcPts val="600"/>
              </a:spcAft>
            </a:pPr>
            <a:r>
              <a:t>✓ Единый язык для маркетинга и бизнеса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Следующие шаги: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1. Утвердить веса КБМ под стратегию компании</a:t>
            </a:r>
          </a:p>
          <a:p>
            <a:pPr>
              <a:spcAft>
                <a:spcPts val="600"/>
              </a:spcAft>
            </a:pPr>
            <a:r>
              <a:t>2. Пилот на 3-5 мероприятиях Q2 2025</a:t>
            </a:r>
          </a:p>
          <a:p>
            <a:pPr>
              <a:spcAft>
                <a:spcPts val="600"/>
              </a:spcAft>
            </a:pPr>
            <a:r>
              <a:t>3. Интеграция в процесс планирования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