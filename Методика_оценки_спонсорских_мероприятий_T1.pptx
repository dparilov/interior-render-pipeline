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9"/>
    <p:sldId id="266" r:id="rId8"/>
    <p:sldId id="267" r:id="rId7"/>
    <p:sldId id="268" r:id="rId6"/>
    <p:sldId id="26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2160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FCC66"/>
    <a:srgbClr val="D8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632" y="16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766" y="90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4" y="482012"/>
            <a:ext cx="1282402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4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6600" b="1" kern="1200" spc="-7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94884B-C50A-2676-5C60-0D699A56C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078480" y="1183376"/>
            <a:ext cx="9113520" cy="5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46CC8F2-D1FD-4E46-89DB-F1E7BC315A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голуб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B627B76B-CFDE-4272-9216-C0FEB42DC94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F5BE6CC-BCDA-4FE1-9262-912C1FA5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A453005-4FFF-4984-9FFE-45F3B3BF050D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C47D41CB-F2FD-4C2D-A122-236C5D1E919B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292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249BE65-95EF-4D4A-95B8-C97ADF9A75B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16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3217395-CFFD-FFC3-F070-667995056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429ED5-9321-9147-DCBD-662C8710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9AD4A87-5407-5B8A-5DAB-18C0E7B25BA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D0A0AF4F-0257-17E1-C895-2D270D2646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BD3D4697-DE1F-7889-138A-31FC78D9C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95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2" name="Заголовок 5">
            <a:extLst>
              <a:ext uri="{FF2B5EF4-FFF2-40B4-BE49-F238E27FC236}">
                <a16:creationId xmlns:a16="http://schemas.microsoft.com/office/drawing/2014/main" id="{D2B9477C-4BCB-41A1-A836-16598DC8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BE31FF3-F825-4791-89D7-2F470D156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454FFBC-4BAB-4655-B4D9-D59FEF37F0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71169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DB19CCD-A848-4A11-9506-32D32ACD4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0538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7AB7710-9929-49DA-B7B2-933B73954F8E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4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848787F0-71AD-454B-801F-BD480A7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B58D33E-B9FA-4A7D-B869-3664E9ED16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9A76CA-7D84-4B63-B310-D21834A2F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24637984-F23E-47BD-B4FE-AF32B66D9A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D325BDFE-4A4A-4011-854C-4FE5195C5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3E913B8-CAD3-4AB3-9B21-249A68FEF6EC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кол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>
            <a:extLst>
              <a:ext uri="{FF2B5EF4-FFF2-40B4-BE49-F238E27FC236}">
                <a16:creationId xmlns:a16="http://schemas.microsoft.com/office/drawing/2014/main" id="{350F4429-9256-53BB-F6C1-F98C03A908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FC392765-800D-786C-3FFE-C1B29265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19F3BDE-2195-FD0A-24B2-04252849F8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1E72A008-CE1E-0EC3-D45E-AD8B29ED0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312AC43F-FB9B-C31C-2FF6-1D5567CEEA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517867C0-6FFF-F248-80D5-2864086573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976D720F-77D1-A3E1-0596-9FA8DF489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D76274C0-5F8A-24AA-D1DD-4A7D52BB9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273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C47AEBB-213D-4FBA-8C7A-C03182FD0B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 dirty="0">
                <a:solidFill>
                  <a:srgbClr val="151515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657222D0-2266-421E-919A-22CDFA5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8A30958F-1C5F-4595-84D3-3B89BE67C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0E01B0C-330A-4F2F-9385-B668B65C94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олилиния: фигура 3">
            <a:extLst>
              <a:ext uri="{FF2B5EF4-FFF2-40B4-BE49-F238E27FC236}">
                <a16:creationId xmlns:a16="http://schemas.microsoft.com/office/drawing/2014/main" id="{22A38065-1B43-4454-AF9D-8F39AC6AE76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7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AC5832F-6F9A-B4E9-5390-A28D8A2CE3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 dirty="0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1C8079-72D3-6602-C397-BD0C1378428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43C070A8-C4CD-4466-8E88-3ABCA0EA5474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8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голубой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BECC6C19-66D5-4858-A653-52D0D3A0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89D2067-3F18-4221-B5C7-15FDC5B8BF13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4BFD3AEA-9FA9-40C1-B1A6-918891FC18BA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6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темный фон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86A226E4-7A0D-4EC2-A7C9-D7E18AF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A55F56-D185-441E-8812-A52E504557D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A381C83F-9044-4565-8177-EB253993FB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327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лень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277B6A-C9C1-4BED-B660-DD42A74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4967F6DB-6280-4C1C-976B-8462F876A9F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9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D5201F-72FD-4581-81CF-954A66160840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6EAA13-9B8C-FF49-F97B-81002E15C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 и QR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89B4A-5D9C-7267-4C37-54B5F7076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358295">
            <a:off x="6556549" y="1088921"/>
            <a:ext cx="6316599" cy="7007229"/>
          </a:xfrm>
          <a:custGeom>
            <a:avLst/>
            <a:gdLst>
              <a:gd name="connsiteX0" fmla="*/ 0 w 6316599"/>
              <a:gd name="connsiteY0" fmla="*/ 1294449 h 7007229"/>
              <a:gd name="connsiteX1" fmla="*/ 3103871 w 6316599"/>
              <a:gd name="connsiteY1" fmla="*/ 0 h 7007229"/>
              <a:gd name="connsiteX2" fmla="*/ 4381081 w 6316599"/>
              <a:gd name="connsiteY2" fmla="*/ 0 h 7007229"/>
              <a:gd name="connsiteX3" fmla="*/ 6316599 w 6316599"/>
              <a:gd name="connsiteY3" fmla="*/ 4641049 h 7007229"/>
              <a:gd name="connsiteX4" fmla="*/ 642895 w 6316599"/>
              <a:gd name="connsiteY4" fmla="*/ 7007229 h 7007229"/>
              <a:gd name="connsiteX5" fmla="*/ 0 w 6316599"/>
              <a:gd name="connsiteY5" fmla="*/ 5465675 h 700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6599" h="7007229">
                <a:moveTo>
                  <a:pt x="0" y="1294449"/>
                </a:moveTo>
                <a:lnTo>
                  <a:pt x="3103871" y="0"/>
                </a:lnTo>
                <a:lnTo>
                  <a:pt x="4381081" y="0"/>
                </a:lnTo>
                <a:lnTo>
                  <a:pt x="6316599" y="4641049"/>
                </a:lnTo>
                <a:lnTo>
                  <a:pt x="642895" y="7007229"/>
                </a:lnTo>
                <a:lnTo>
                  <a:pt x="0" y="5465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774A2-7A56-4E9C-8164-03644F2CEDE1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00FCA787-4B67-451C-AB5E-D0B03DA600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028" y="2680536"/>
            <a:ext cx="2260600" cy="2260600"/>
          </a:xfrm>
          <a:prstGeom prst="roundRect">
            <a:avLst>
              <a:gd name="adj" fmla="val 4115"/>
            </a:avLst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QR-code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4D9C-6CE6-4DD1-9823-74C9DCDD7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680537"/>
            <a:ext cx="3605553" cy="465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ru-RU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Контактные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87492-A99D-4DCA-9999-F8E23C5CCA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15443" y="4641098"/>
            <a:ext cx="3605493" cy="300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10" name="Т1">
            <a:extLst>
              <a:ext uri="{FF2B5EF4-FFF2-40B4-BE49-F238E27FC236}">
                <a16:creationId xmlns:a16="http://schemas.microsoft.com/office/drawing/2014/main" id="{DE7A2156-8DCB-910F-CE9D-D252F133E3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2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0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63" r:id="rId2"/>
    <p:sldLayoutId id="2147483689" r:id="rId3"/>
    <p:sldLayoutId id="2147483688" r:id="rId4"/>
    <p:sldLayoutId id="2147483678" r:id="rId5"/>
    <p:sldLayoutId id="2147483679" r:id="rId6"/>
    <p:sldLayoutId id="2147483747" r:id="rId7"/>
    <p:sldLayoutId id="2147483682" r:id="rId8"/>
    <p:sldLayoutId id="2147483681" r:id="rId9"/>
    <p:sldLayoutId id="2147483748" r:id="rId10"/>
    <p:sldLayoutId id="2147483680" r:id="rId11"/>
    <p:sldLayoutId id="2147483749" r:id="rId12"/>
    <p:sldLayoutId id="2147483683" r:id="rId13"/>
    <p:sldLayoutId id="2147483684" r:id="rId14"/>
    <p:sldLayoutId id="2147483692" r:id="rId15"/>
    <p:sldLayoutId id="2147483686" r:id="rId16"/>
    <p:sldLayoutId id="2147483741" r:id="rId17"/>
    <p:sldLayoutId id="214748374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 userDrawn="1">
          <p15:clr>
            <a:srgbClr val="A4A3A4"/>
          </p15:clr>
        </p15:guide>
        <p15:guide id="4" pos="393" userDrawn="1">
          <p15:clr>
            <a:srgbClr val="AFE0FF"/>
          </p15:clr>
        </p15:guide>
        <p15:guide id="5" pos="514" userDrawn="1">
          <p15:clr>
            <a:srgbClr val="AFE0FF"/>
          </p15:clr>
        </p15:guide>
        <p15:guide id="6" pos="634" userDrawn="1">
          <p15:clr>
            <a:srgbClr val="AFE0FF"/>
          </p15:clr>
        </p15:guide>
        <p15:guide id="7" pos="755" userDrawn="1">
          <p15:clr>
            <a:srgbClr val="AFE0FF"/>
          </p15:clr>
        </p15:guide>
        <p15:guide id="8" pos="876" userDrawn="1">
          <p15:clr>
            <a:srgbClr val="AFE0FF"/>
          </p15:clr>
        </p15:guide>
        <p15:guide id="9" pos="997" userDrawn="1">
          <p15:clr>
            <a:srgbClr val="AFE0FF"/>
          </p15:clr>
        </p15:guide>
        <p15:guide id="10" pos="1118" userDrawn="1">
          <p15:clr>
            <a:srgbClr val="AFE0FF"/>
          </p15:clr>
        </p15:guide>
        <p15:guide id="11" pos="1239" userDrawn="1">
          <p15:clr>
            <a:srgbClr val="AFE0FF"/>
          </p15:clr>
        </p15:guide>
        <p15:guide id="12" pos="1360" userDrawn="1">
          <p15:clr>
            <a:srgbClr val="AFE0FF"/>
          </p15:clr>
        </p15:guide>
        <p15:guide id="13" pos="1481" userDrawn="1">
          <p15:clr>
            <a:srgbClr val="AFE0FF"/>
          </p15:clr>
        </p15:guide>
        <p15:guide id="14" pos="1602" userDrawn="1">
          <p15:clr>
            <a:srgbClr val="AFE0FF"/>
          </p15:clr>
        </p15:guide>
        <p15:guide id="15" pos="1723" userDrawn="1">
          <p15:clr>
            <a:srgbClr val="AFE0FF"/>
          </p15:clr>
        </p15:guide>
        <p15:guide id="16" pos="1844" userDrawn="1">
          <p15:clr>
            <a:srgbClr val="AFE0FF"/>
          </p15:clr>
        </p15:guide>
        <p15:guide id="17" pos="1958" userDrawn="1">
          <p15:clr>
            <a:srgbClr val="A4A3A4"/>
          </p15:clr>
        </p15:guide>
        <p15:guide id="18" pos="2094" userDrawn="1">
          <p15:clr>
            <a:srgbClr val="A4A3A4"/>
          </p15:clr>
        </p15:guide>
        <p15:guide id="19" pos="2207" userDrawn="1">
          <p15:clr>
            <a:srgbClr val="AFE0FF"/>
          </p15:clr>
        </p15:guide>
        <p15:guide id="20" pos="2328" userDrawn="1">
          <p15:clr>
            <a:srgbClr val="AFE0FF"/>
          </p15:clr>
        </p15:guide>
        <p15:guide id="21" pos="2449" userDrawn="1">
          <p15:clr>
            <a:srgbClr val="AFE0FF"/>
          </p15:clr>
        </p15:guide>
        <p15:guide id="22" pos="2570" userDrawn="1">
          <p15:clr>
            <a:srgbClr val="A4A3A4"/>
          </p15:clr>
        </p15:guide>
        <p15:guide id="23" pos="2691" userDrawn="1">
          <p15:clr>
            <a:srgbClr val="A4A3A4"/>
          </p15:clr>
        </p15:guide>
        <p15:guide id="24" pos="2811" userDrawn="1">
          <p15:clr>
            <a:srgbClr val="AFE0FF"/>
          </p15:clr>
        </p15:guide>
        <p15:guide id="25" pos="2932" userDrawn="1">
          <p15:clr>
            <a:srgbClr val="AFE0FF"/>
          </p15:clr>
        </p15:guide>
        <p15:guide id="26" pos="3053" userDrawn="1">
          <p15:clr>
            <a:srgbClr val="AFE0FF"/>
          </p15:clr>
        </p15:guide>
        <p15:guide id="27" pos="3174" userDrawn="1">
          <p15:clr>
            <a:srgbClr val="AFE0FF"/>
          </p15:clr>
        </p15:guide>
        <p15:guide id="28" pos="3295" userDrawn="1">
          <p15:clr>
            <a:srgbClr val="AFE0FF"/>
          </p15:clr>
        </p15:guide>
        <p15:guide id="29" pos="3416" userDrawn="1">
          <p15:clr>
            <a:srgbClr val="AFE0FF"/>
          </p15:clr>
        </p15:guide>
        <p15:guide id="30" pos="3537" userDrawn="1">
          <p15:clr>
            <a:srgbClr val="AFE0FF"/>
          </p15:clr>
        </p15:guide>
        <p15:guide id="31" pos="3658" userDrawn="1">
          <p15:clr>
            <a:srgbClr val="AFE0FF"/>
          </p15:clr>
        </p15:guide>
        <p15:guide id="32" pos="3779" userDrawn="1">
          <p15:clr>
            <a:srgbClr val="A4A3A4"/>
          </p15:clr>
        </p15:guide>
        <p15:guide id="33" pos="3900" userDrawn="1">
          <p15:clr>
            <a:srgbClr val="A4A3A4"/>
          </p15:clr>
        </p15:guide>
        <p15:guide id="34" pos="4021" userDrawn="1">
          <p15:clr>
            <a:srgbClr val="AFE0FF"/>
          </p15:clr>
        </p15:guide>
        <p15:guide id="35" pos="4142" userDrawn="1">
          <p15:clr>
            <a:srgbClr val="AFE0FF"/>
          </p15:clr>
        </p15:guide>
        <p15:guide id="36" pos="4263" userDrawn="1">
          <p15:clr>
            <a:srgbClr val="AFE0FF"/>
          </p15:clr>
        </p15:guide>
        <p15:guide id="37" pos="4384" userDrawn="1">
          <p15:clr>
            <a:srgbClr val="AFE0FF"/>
          </p15:clr>
        </p15:guide>
        <p15:guide id="38" pos="4505" userDrawn="1">
          <p15:clr>
            <a:srgbClr val="AFE0FF"/>
          </p15:clr>
        </p15:guide>
        <p15:guide id="39" pos="4626" userDrawn="1">
          <p15:clr>
            <a:srgbClr val="AFE0FF"/>
          </p15:clr>
        </p15:guide>
        <p15:guide id="40" pos="4747" userDrawn="1">
          <p15:clr>
            <a:srgbClr val="AFE0FF"/>
          </p15:clr>
        </p15:guide>
        <p15:guide id="41" pos="4868" userDrawn="1">
          <p15:clr>
            <a:srgbClr val="AFE0FF"/>
          </p15:clr>
        </p15:guide>
        <p15:guide id="42" pos="4988" userDrawn="1">
          <p15:clr>
            <a:srgbClr val="A4A3A4"/>
          </p15:clr>
        </p15:guide>
        <p15:guide id="43" pos="5109" userDrawn="1">
          <p15:clr>
            <a:srgbClr val="A4A3A4"/>
          </p15:clr>
        </p15:guide>
        <p15:guide id="44" pos="5230" userDrawn="1">
          <p15:clr>
            <a:srgbClr val="AFE0FF"/>
          </p15:clr>
        </p15:guide>
        <p15:guide id="45" pos="5351" userDrawn="1">
          <p15:clr>
            <a:srgbClr val="AFE0FF"/>
          </p15:clr>
        </p15:guide>
        <p15:guide id="46" pos="5472" userDrawn="1">
          <p15:clr>
            <a:srgbClr val="AFE0FF"/>
          </p15:clr>
        </p15:guide>
        <p15:guide id="47" pos="5593" userDrawn="1">
          <p15:clr>
            <a:srgbClr val="A4A3A4"/>
          </p15:clr>
        </p15:guide>
        <p15:guide id="48" pos="5714" userDrawn="1">
          <p15:clr>
            <a:srgbClr val="A4A3A4"/>
          </p15:clr>
        </p15:guide>
        <p15:guide id="49" pos="5835" userDrawn="1">
          <p15:clr>
            <a:srgbClr val="AFE0FF"/>
          </p15:clr>
        </p15:guide>
        <p15:guide id="50" pos="5956" userDrawn="1">
          <p15:clr>
            <a:srgbClr val="AFE0FF"/>
          </p15:clr>
        </p15:guide>
        <p15:guide id="51" pos="6077" userDrawn="1">
          <p15:clr>
            <a:srgbClr val="AFE0FF"/>
          </p15:clr>
        </p15:guide>
        <p15:guide id="52" pos="6198" userDrawn="1">
          <p15:clr>
            <a:srgbClr val="AFE0FF"/>
          </p15:clr>
        </p15:guide>
        <p15:guide id="53" pos="6335" userDrawn="1">
          <p15:clr>
            <a:srgbClr val="AFE0FF"/>
          </p15:clr>
        </p15:guide>
        <p15:guide id="54" pos="6440" userDrawn="1">
          <p15:clr>
            <a:srgbClr val="AFE0FF"/>
          </p15:clr>
        </p15:guide>
        <p15:guide id="55" pos="6561" userDrawn="1">
          <p15:clr>
            <a:srgbClr val="AFE0FF"/>
          </p15:clr>
        </p15:guide>
        <p15:guide id="56" pos="6682" userDrawn="1">
          <p15:clr>
            <a:srgbClr val="AFE0FF"/>
          </p15:clr>
        </p15:guide>
        <p15:guide id="57" pos="6803" userDrawn="1">
          <p15:clr>
            <a:srgbClr val="AFE0FF"/>
          </p15:clr>
        </p15:guide>
        <p15:guide id="58" pos="6924" userDrawn="1">
          <p15:clr>
            <a:srgbClr val="AFE0FF"/>
          </p15:clr>
        </p15:guide>
        <p15:guide id="59" pos="7045" userDrawn="1">
          <p15:clr>
            <a:srgbClr val="AFE0FF"/>
          </p15:clr>
        </p15:guide>
        <p15:guide id="60" pos="7165" userDrawn="1">
          <p15:clr>
            <a:srgbClr val="AFE0FF"/>
          </p15:clr>
        </p15:guide>
        <p15:guide id="61" pos="7286" userDrawn="1">
          <p15:clr>
            <a:srgbClr val="AFE0FF"/>
          </p15:clr>
        </p15:guide>
        <p15:guide id="62" pos="7407" userDrawn="1">
          <p15:clr>
            <a:srgbClr val="A4A3A4"/>
          </p15:clr>
        </p15:guide>
        <p15:guide id="65" orient="horz" pos="272" userDrawn="1">
          <p15:clr>
            <a:srgbClr val="A4A3A4"/>
          </p15:clr>
        </p15:guide>
        <p15:guide id="66" orient="horz" pos="393" userDrawn="1">
          <p15:clr>
            <a:srgbClr val="AFE0FF"/>
          </p15:clr>
        </p15:guide>
        <p15:guide id="67" orient="horz" pos="504" userDrawn="1">
          <p15:clr>
            <a:srgbClr val="AFE0FF"/>
          </p15:clr>
        </p15:guide>
        <p15:guide id="68" orient="horz" pos="637" userDrawn="1">
          <p15:clr>
            <a:srgbClr val="AFE0FF"/>
          </p15:clr>
        </p15:guide>
        <p15:guide id="69" orient="horz" pos="754" userDrawn="1">
          <p15:clr>
            <a:srgbClr val="AFE0FF"/>
          </p15:clr>
        </p15:guide>
        <p15:guide id="70" orient="horz" pos="867" userDrawn="1">
          <p15:clr>
            <a:srgbClr val="AFE0FF"/>
          </p15:clr>
        </p15:guide>
        <p15:guide id="71" orient="horz" pos="1002" userDrawn="1">
          <p15:clr>
            <a:srgbClr val="AFE0FF"/>
          </p15:clr>
        </p15:guide>
        <p15:guide id="72" orient="horz" pos="1124" userDrawn="1">
          <p15:clr>
            <a:srgbClr val="AFE0FF"/>
          </p15:clr>
        </p15:guide>
        <p15:guide id="73" orient="horz" pos="1246" userDrawn="1">
          <p15:clr>
            <a:srgbClr val="AFE0FF"/>
          </p15:clr>
        </p15:guide>
        <p15:guide id="74" orient="horz" pos="1368" userDrawn="1">
          <p15:clr>
            <a:srgbClr val="AFE0FF"/>
          </p15:clr>
        </p15:guide>
        <p15:guide id="75" orient="horz" pos="1490" userDrawn="1">
          <p15:clr>
            <a:srgbClr val="AFE0FF"/>
          </p15:clr>
        </p15:guide>
        <p15:guide id="76" orient="horz" pos="1611" userDrawn="1">
          <p15:clr>
            <a:srgbClr val="AFE0FF"/>
          </p15:clr>
        </p15:guide>
        <p15:guide id="77" orient="horz" pos="1733" userDrawn="1">
          <p15:clr>
            <a:srgbClr val="AFE0FF"/>
          </p15:clr>
        </p15:guide>
        <p15:guide id="78" orient="horz" pos="1855" userDrawn="1">
          <p15:clr>
            <a:srgbClr val="AFE0FF"/>
          </p15:clr>
        </p15:guide>
        <p15:guide id="79" orient="horz" pos="1977" userDrawn="1">
          <p15:clr>
            <a:srgbClr val="AFE0FF"/>
          </p15:clr>
        </p15:guide>
        <p15:guide id="80" orient="horz" pos="2099" userDrawn="1">
          <p15:clr>
            <a:srgbClr val="AFE0FF"/>
          </p15:clr>
        </p15:guide>
        <p15:guide id="81" orient="horz" pos="2228" userDrawn="1">
          <p15:clr>
            <a:srgbClr val="AFE0FF"/>
          </p15:clr>
        </p15:guide>
        <p15:guide id="82" orient="horz" pos="2342" userDrawn="1">
          <p15:clr>
            <a:srgbClr val="AFE0FF"/>
          </p15:clr>
        </p15:guide>
        <p15:guide id="83" orient="horz" pos="2464" userDrawn="1">
          <p15:clr>
            <a:srgbClr val="AFE0FF"/>
          </p15:clr>
        </p15:guide>
        <p15:guide id="84" orient="horz" pos="2586" userDrawn="1">
          <p15:clr>
            <a:srgbClr val="AFE0FF"/>
          </p15:clr>
        </p15:guide>
        <p15:guide id="85" orient="horz" pos="2708" userDrawn="1">
          <p15:clr>
            <a:srgbClr val="AFE0FF"/>
          </p15:clr>
        </p15:guide>
        <p15:guide id="86" orient="horz" pos="2829" userDrawn="1">
          <p15:clr>
            <a:srgbClr val="AFE0FF"/>
          </p15:clr>
        </p15:guide>
        <p15:guide id="87" orient="horz" pos="2951" userDrawn="1">
          <p15:clr>
            <a:srgbClr val="AFE0FF"/>
          </p15:clr>
        </p15:guide>
        <p15:guide id="88" orient="horz" pos="3067" userDrawn="1">
          <p15:clr>
            <a:srgbClr val="AFE0FF"/>
          </p15:clr>
        </p15:guide>
        <p15:guide id="89" orient="horz" pos="3195" userDrawn="1">
          <p15:clr>
            <a:srgbClr val="AFE0FF"/>
          </p15:clr>
        </p15:guide>
        <p15:guide id="90" orient="horz" pos="3317" userDrawn="1">
          <p15:clr>
            <a:srgbClr val="AFE0FF"/>
          </p15:clr>
        </p15:guide>
        <p15:guide id="91" orient="horz" pos="3438" userDrawn="1">
          <p15:clr>
            <a:srgbClr val="AFE0FF"/>
          </p15:clr>
        </p15:guide>
        <p15:guide id="92" orient="horz" pos="3560" userDrawn="1">
          <p15:clr>
            <a:srgbClr val="AFE0FF"/>
          </p15:clr>
        </p15:guide>
        <p15:guide id="93" orient="horz" pos="3682" userDrawn="1">
          <p15:clr>
            <a:srgbClr val="AFE0FF"/>
          </p15:clr>
        </p15:guide>
        <p15:guide id="94" orient="horz" pos="3804" userDrawn="1">
          <p15:clr>
            <a:srgbClr val="AFE0FF"/>
          </p15:clr>
        </p15:guide>
        <p15:guide id="95" orient="horz" pos="3926" userDrawn="1">
          <p15:clr>
            <a:srgbClr val="AFE0FF"/>
          </p15:clr>
        </p15:guide>
        <p15:guide id="96" pos="3719" userDrawn="1">
          <p15:clr>
            <a:srgbClr val="AFE0FF"/>
          </p15:clr>
        </p15:guide>
        <p15:guide id="97" pos="3962" userDrawn="1">
          <p15:clr>
            <a:srgbClr val="AFE0FF"/>
          </p15:clr>
        </p15:guide>
        <p15:guide id="98" orient="horz" pos="404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• Нет единой методики оценки — каждое мероприятие считается по-своему</a:t>
            </a:r>
          </a:p>
          <a:p>
            <a:pPr/>
            <a:r>
              <a:t>• Субъективность — «было круто» vs измеримые результаты</a:t>
            </a:r>
          </a:p>
          <a:p>
            <a:pPr/>
            <a:r>
              <a:t>• Сложно сравнивать — ПМГФ vs камерный бизнес-завтрак</a:t>
            </a:r>
          </a:p>
          <a:p>
            <a:pPr/>
            <a:r>
              <a:t>• Разные спонсорские пакеты — как сравнить стенд и сессию?</a:t>
            </a:r>
          </a:p>
          <a:p>
            <a:pPr/>
            <a:r>
              <a:t>• Отложенный эффект — сделки закрываются через 3-6 месяцев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• Единая матрица для всех типов мероприятий</a:t>
            </a:r>
          </a:p>
          <a:p>
            <a:pPr/>
            <a:r>
              <a:t>• Объективные метрики: OTS, GRP, CPL, ROI, NPS</a:t>
            </a:r>
          </a:p>
          <a:p>
            <a:pPr/>
            <a:r>
              <a:t>• Оценка качества спонсорского пакета (Idx)</a:t>
            </a:r>
          </a:p>
          <a:p>
            <a:pPr/>
            <a:r>
              <a:t>• Комплексный балл мероприятия (КБМ) — итоговый рейтинг</a:t>
            </a:r>
          </a:p>
          <a:p>
            <a:pPr/>
            <a:r>
              <a:t>• Возможность сравнивать и ранжировать мероприятия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Блок 1. Общая информация — название, дата, город, участник, приоритет</a:t>
            </a:r>
          </a:p>
          <a:p>
            <a:pPr/>
            <a:r>
              <a:t>Блок 2. Исходные данные (ввод) — участники, встречи, контакты, бюджет, доход</a:t>
            </a:r>
          </a:p>
          <a:p>
            <a:pPr/>
            <a:r>
              <a:t>Блок 3. Расчётные метрики (авто) — OTS, GRP, CPL, CPA, ROI, NPS и др.</a:t>
            </a:r>
          </a:p>
          <a:p>
            <a:pPr/>
            <a:r>
              <a:t>Блок 4. Индекс спонсорских опций — оценка 8 параметров (k от 1 до 5)</a:t>
            </a:r>
          </a:p>
          <a:p>
            <a:pPr/>
            <a:r>
              <a:t>Блок 5. Комплексный балл мероприятия (КБМ) — итоговый рейтинг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• OTS (Opportunity To See) — максимальный охват аудитории</a:t>
            </a:r>
          </a:p>
          <a:p>
            <a:pPr/>
            <a:r>
              <a:t>• GRP (Gross Rating Point) — доля аудитории с прямым контактом</a:t>
            </a:r>
          </a:p>
          <a:p>
            <a:pPr/>
            <a:r>
              <a:t>• CPL (Cost Per Lead) — стоимость одного лида</a:t>
            </a:r>
          </a:p>
          <a:p>
            <a:pPr/>
            <a:r>
              <a:t>• CPA (Cost Per Action) — стоимость целевого действия</a:t>
            </a:r>
          </a:p>
          <a:p>
            <a:pPr/>
            <a:r>
              <a:t>• ROI / ROMI — возврат инвестиций</a:t>
            </a:r>
          </a:p>
          <a:p>
            <a:pPr/>
            <a:r>
              <a:t>• NPS (Net Promoter Score) — индекс лояльности</a:t>
            </a:r>
          </a:p>
          <a:p>
            <a:pPr/>
            <a:r>
              <a:t>• CR (Conversion Rate) — конверсия лид → сделка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8 параметров оценки (p1–p8):</a:t>
            </a:r>
          </a:p>
          <a:p>
            <a:pPr/>
          </a:p>
          <a:p>
            <a:pPr/>
            <a:r>
              <a:t>p1: Выставочный стенд</a:t>
            </a:r>
          </a:p>
          <a:p>
            <a:pPr/>
            <a:r>
              <a:t>p2: Сессия в деловой программе</a:t>
            </a:r>
          </a:p>
          <a:p>
            <a:pPr/>
            <a:r>
              <a:t>p3: Размещение на сайте мероприятия</a:t>
            </a:r>
          </a:p>
          <a:p>
            <a:pPr/>
            <a:r>
              <a:t>p4: Логотип в программе / на баннерах</a:t>
            </a:r>
          </a:p>
          <a:p>
            <a:pPr/>
            <a:r>
              <a:t>p5: Сувениры / мерч в сумке участника</a:t>
            </a:r>
          </a:p>
          <a:p>
            <a:pPr/>
            <a:r>
              <a:t>p6: Активации / игровые механики</a:t>
            </a:r>
          </a:p>
          <a:p>
            <a:pPr/>
            <a:r>
              <a:t>p7: Нетворкинг / бизнес-завтрак</a:t>
            </a:r>
          </a:p>
          <a:p>
            <a:pPr/>
            <a:r>
              <a:t>p8: Прочее</a:t>
            </a:r>
          </a:p>
          <a:p>
            <a:pPr/>
          </a:p>
          <a:p>
            <a:pPr/>
            <a:r>
              <a:t>Каждый параметр оценивается k от 1 до 5</a:t>
            </a:r>
          </a:p>
          <a:p>
            <a:pPr/>
            <a:r>
              <a:t>Idx = Σ(k₁...kₙ) / n — средний балл по всем опциям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Пример: Выставочный стенд</a:t>
            </a:r>
          </a:p>
          <a:p>
            <a:pPr/>
          </a:p>
          <a:p>
            <a:pPr/>
            <a:r>
              <a:t>k=5 — Центральный, у входа, ≥70 кв.м.</a:t>
            </a:r>
          </a:p>
          <a:p>
            <a:pPr/>
            <a:r>
              <a:t>k=4 — Ключевой павильон, 1-я линия</a:t>
            </a:r>
          </a:p>
          <a:p>
            <a:pPr/>
            <a:r>
              <a:t>k=3 — 2-я линия, видимый</a:t>
            </a:r>
          </a:p>
          <a:p>
            <a:pPr/>
            <a:r>
              <a:t>k=2 — Угловой, малая площадь</a:t>
            </a:r>
          </a:p>
          <a:p>
            <a:pPr/>
            <a:r>
              <a:t>k=1 — Задворки, плохая проходимость</a:t>
            </a:r>
          </a:p>
          <a:p>
            <a:pPr/>
          </a:p>
          <a:p>
            <a:pPr/>
            <a:r>
              <a:t>Аналогичная шкала для всех 8 опций</a:t>
            </a:r>
          </a:p>
          <a:p>
            <a:pPr/>
            <a:r>
              <a:t>(подробная матрица — в справочнике)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Формула:</a:t>
            </a:r>
          </a:p>
          <a:p>
            <a:pPr/>
            <a:r>
              <a:t>КБМ = w1×GRP + w2×Idx + w3×(1/CPL) + w4×NPS + w5×ROI</a:t>
            </a:r>
          </a:p>
          <a:p>
            <a:pPr/>
          </a:p>
          <a:p>
            <a:pPr/>
            <a:r>
              <a:t>Рекомендуемые веса:</a:t>
            </a:r>
          </a:p>
          <a:p>
            <a:pPr/>
            <a:r>
              <a:t>• w1 (GRP) = 25% — охват и вовлечённость</a:t>
            </a:r>
          </a:p>
          <a:p>
            <a:pPr/>
            <a:r>
              <a:t>• w2 (Idx) = 20% — качество спонсорского пакета</a:t>
            </a:r>
          </a:p>
          <a:p>
            <a:pPr/>
            <a:r>
              <a:t>• w3 (1/CPL) = 30% — эффективность лидогенерации</a:t>
            </a:r>
          </a:p>
          <a:p>
            <a:pPr/>
            <a:r>
              <a:t>• w4 (NPS) = 15% — удовлетворённость</a:t>
            </a:r>
          </a:p>
          <a:p>
            <a:pPr/>
            <a:r>
              <a:t>• w5 (ROI) = 10% — финансовая отдача</a:t>
            </a:r>
          </a:p>
          <a:p>
            <a:pPr/>
          </a:p>
          <a:p>
            <a:pPr/>
            <a:r>
              <a:t>Веса настраиваются под приоритеты компании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                          ПМГФ        Smart Mining    Белые ночи</a:t>
            </a:r>
          </a:p>
          <a:p>
            <a:pPr/>
          </a:p>
          <a:p>
            <a:pPr/>
            <a:r>
              <a:t>OTS (охват)              34 400            554              375</a:t>
            </a:r>
          </a:p>
          <a:p>
            <a:pPr/>
            <a:r>
              <a:t>Касания                     186              84               76</a:t>
            </a:r>
          </a:p>
          <a:p>
            <a:pPr/>
            <a:r>
              <a:t>GRP                       0,54%         15,16%          20,27%</a:t>
            </a:r>
          </a:p>
          <a:p>
            <a:pPr/>
            <a:r>
              <a:t>Idx (опции)                2,75           3,33            2,75</a:t>
            </a:r>
          </a:p>
          <a:p>
            <a:pPr/>
          </a:p>
          <a:p>
            <a:pPr/>
            <a:r>
              <a:t>Вывод: Smart Mining и Белые ночи показали</a:t>
            </a:r>
          </a:p>
          <a:p>
            <a:pPr/>
            <a:r>
              <a:t>более высокую вовлечённость при меньшем охвате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Что даёт методика:</a:t>
            </a:r>
          </a:p>
          <a:p>
            <a:pPr/>
            <a:r>
              <a:t>• Объективное сравнение любых мероприятий</a:t>
            </a:r>
          </a:p>
          <a:p>
            <a:pPr/>
            <a:r>
              <a:t>• Обоснование бюджетов на спонсорство</a:t>
            </a:r>
          </a:p>
          <a:p>
            <a:pPr/>
            <a:r>
              <a:t>• Выявление наиболее эффективных форматов</a:t>
            </a:r>
          </a:p>
          <a:p>
            <a:pPr/>
            <a:r>
              <a:t>• База для планирования на следующий год</a:t>
            </a:r>
          </a:p>
          <a:p>
            <a:pPr/>
          </a:p>
          <a:p>
            <a:pPr/>
            <a:r>
              <a:t>Следующие шаги:</a:t>
            </a:r>
          </a:p>
          <a:p>
            <a:pPr/>
            <a:r>
              <a:t>• Утвердить веса KPI под цели Т1</a:t>
            </a:r>
          </a:p>
          <a:p>
            <a:pPr/>
            <a:r>
              <a:t>• Внедрить матрицу для всех мероприятий 2025</a:t>
            </a:r>
          </a:p>
          <a:p>
            <a:pPr/>
            <a:r>
              <a:t>• Собрать данные и сформировать рейтинг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138</Words>
  <Application>Microsoft Macintosh PowerPoint</Application>
  <PresentationFormat>Широкоэкранный</PresentationFormat>
  <Paragraphs>49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ALS Hauss</vt:lpstr>
      <vt:lpstr>ALS Hauss Medium</vt:lpstr>
      <vt:lpstr>Arial</vt:lpstr>
      <vt:lpstr>Calibri</vt:lpstr>
      <vt:lpstr>Основной шаблон Т1</vt:lpstr>
      <vt:lpstr>Шаблон презентаций Холдинга Т1</vt:lpstr>
      <vt:lpstr>Обложка раздела</vt:lpstr>
      <vt:lpstr>Обложка раздела</vt:lpstr>
      <vt:lpstr>Презентация PowerPoint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Версия уменьшенного заголовка для больших схем или таблиц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cp:lastModifiedBy>Дорохина Наталья Сергеевна</cp:lastModifiedBy>
  <cp:revision>153</cp:revision>
  <dcterms:created xsi:type="dcterms:W3CDTF">2023-02-20T15:32:58Z</dcterms:created>
  <dcterms:modified xsi:type="dcterms:W3CDTF">2024-12-05T10:12:00Z</dcterms:modified>
  <cp:category/>
</cp:coreProperties>
</file>